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338" autoAdjust="0"/>
  </p:normalViewPr>
  <p:slideViewPr>
    <p:cSldViewPr snapToGrid="0" snapToObjects="1">
      <p:cViewPr varScale="1">
        <p:scale>
          <a:sx n="123" d="100"/>
          <a:sy n="123" d="100"/>
        </p:scale>
        <p:origin x="7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110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EA5A0">
              <a:alpha val="20000"/>
            </a:srgbClr>
          </a:solidFill>
          <a:ln w="12700">
            <a:solidFill>
              <a:srgbClr val="0EA5A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EA5A0">
              <a:alpha val="40000"/>
            </a:srgbClr>
          </a:solidFill>
          <a:ln w="12700">
            <a:solidFill>
              <a:srgbClr val="0EA5A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Python on Raspberry Pi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 · Object Detection · Training · Deploy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627632" cy="292608"/>
          </a:xfrm>
          <a:prstGeom prst="roundRect">
            <a:avLst>
              <a:gd name="adj" fmla="val 1875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2834640"/>
            <a:ext cx="1627632" cy="292608"/>
          </a:xfrm>
          <a:prstGeom prst="roundRect">
            <a:avLst>
              <a:gd name="adj" fmla="val 1875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28346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68496" y="2834640"/>
            <a:ext cx="1627632" cy="292608"/>
          </a:xfrm>
          <a:prstGeom prst="roundRect">
            <a:avLst>
              <a:gd name="adj" fmla="val 1875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28346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24144" y="2834640"/>
            <a:ext cx="1627632" cy="292608"/>
          </a:xfrm>
          <a:prstGeom prst="roundRect">
            <a:avLst>
              <a:gd name="adj" fmla="val 1875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4144" y="28346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79792" y="2834640"/>
            <a:ext cx="1627632" cy="292608"/>
          </a:xfrm>
          <a:prstGeom prst="roundRect">
            <a:avLst>
              <a:gd name="adj" fmla="val 1875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9792" y="28346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5943600" cy="0"/>
          </a:xfrm>
          <a:prstGeom prst="line">
            <a:avLst/>
          </a:prstGeom>
          <a:noFill/>
          <a:ln w="12700">
            <a:solidFill>
              <a:srgbClr val="0EA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29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เรียนสร้างระบบ AI ตรวจจับวัตถุด้วย Python ตั้งแต่พื้นฐาน ไปจนถึง deploy ใช้งานจริงบน Edge Device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github.com/BESSTSU/ProjectAI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ภาพรวมคอร์ส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· End-to-End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43000"/>
            <a:ext cx="54864" cy="117043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978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608" y="1527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Fundamentals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18379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 pixel color space webcam real-time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2441448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441448"/>
            <a:ext cx="54864" cy="117043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4963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260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AI Introduction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" y="313639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Detection Segmentation metrics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739896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739896"/>
            <a:ext cx="54864" cy="117043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7947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2608" y="41239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Labeling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" y="44348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dataset split train/val/test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114300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08960" y="1143000"/>
            <a:ext cx="54864" cy="117043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11978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18688" y="1527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 Training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18688" y="18379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yolo11n/s/m/x epochs batch mAP transfer learning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441448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0" y="2441448"/>
            <a:ext cx="54864" cy="117043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24963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1868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18688" y="313639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ONNX half-precision edge tradeoff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3739896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08960" y="3739896"/>
            <a:ext cx="54864" cy="117043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18688" y="37947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218688" y="41239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on RPi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18688" y="44348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loop bounding box FPS deployment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114300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1143000"/>
            <a:ext cx="54864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11978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144768" y="1527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44768" y="18379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ทำโปรเจกต์จริง วัดผล accuracy+FPS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สิ่งที่คุณจะทำได้เมื่อเรียนจบ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88720"/>
            <a:ext cx="429768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9844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ใช้ OpenCV ได้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อ่านภาพ วิดีโอ กล้อง resize crop draw detect edges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88720"/>
            <a:ext cx="429768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9844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เข้าใจ CV AI Pipeline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6459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Detection · Segmentation · Metrics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423160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423160"/>
            <a:ext cx="429768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328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สร้าง Dataset เอง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" y="28803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เก็บภาพ label ด้วย Roboflow export YOLO format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423160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423160"/>
            <a:ext cx="429768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5328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Train Custom Model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28803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yolo11n/s/m/x transfer learning วิเคราะห์ mAP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3657600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3657600"/>
            <a:ext cx="429768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673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Optimize for Edge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" y="41148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ONNX เลือก model ให้เหมาะ RPi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657600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657600"/>
            <a:ext cx="429768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7673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🍓  Deploy บน RPi 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41148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บน edge device ใช้งานได้จริง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Computer Vision คืออะไร?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 · Pixel · Color Space · OpenCV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88720"/>
            <a:ext cx="54864" cy="7498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43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 = Array ตัวเลข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536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ทุกภาพดิจิทัลคือ matrix ของ pixel แต่ละ pixel มีค่า 0-255 (BGR/RGB/Gray)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2066544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2066544"/>
            <a:ext cx="54864" cy="7498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21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vs RGB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24140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ใช้ BGR เป็น default ต้องระวังเวลาแปลง เช่น cv2.cvtColor(img, cv2.COLOR_BGR2RGB)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944368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944368"/>
            <a:ext cx="54864" cy="7498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999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Space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" y="3291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· RGB · Gray · HSV · LAB แต่ละ space เหมาะกับงานต่างกัน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3822192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3822192"/>
            <a:ext cx="54864" cy="7498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877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&amp; FPS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" y="41696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ขนาดภาพกับ frame rate มีผลต่อ performance โดยตรงบน edge device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1188720"/>
            <a:ext cx="329184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1188720"/>
            <a:ext cx="32918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CF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01_opencv_image_basic.py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79008" y="1499616"/>
            <a:ext cx="310896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อ่านภาพ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cv2.imread('photo.jpg')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แปลงเป็น grayscale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= cv2.cvtColor(img,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cv2.COLOR_BGR2GRAY)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ตรวจจับขอบ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cv2.Canny(gray, 100, 200)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เปิดกล้อง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ret, frame = cap.read()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cap.release()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4709160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7091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01_opencv_image_basic.py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470916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4709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02_opencv_webcam.py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เลือกว่าจะเอา Computer Vision ไปทำอะไร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 Types หลักที่ต้องรู้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09728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97280"/>
            <a:ext cx="2788920" cy="41148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155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Image Classification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581912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ตอบว่า "ภาพนี้คืออะไร?"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ชื่อ class เดียว + confidence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ใช้เมื่อ: จำแนกประเภทผลิตภัณฑ์ ตรวจสอบคุณภาพ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260604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72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ResNet · EfficientNet · MobileNet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401568"/>
            <a:ext cx="260604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410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RPi: เร็วมาก ✅ เหมาะ RPi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109728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097280"/>
            <a:ext cx="2788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1155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 Detection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64408" y="1581912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ตอบว่า "มีอะไร อยู่ที่ไหน?"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bounding box + class + confidence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ใช้เมื่อ: ตรวจจับชิ้นงาน นับสินค้า ตรวจจับความปลอดภัย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64408" y="3063240"/>
            <a:ext cx="260604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3072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YOLOv11 · SSD · EfficientDet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64408" y="3401568"/>
            <a:ext cx="260604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3410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RPi: ปานกลาง ⚡ ต้องเลือก model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63056" y="109728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1097280"/>
            <a:ext cx="27889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11155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Segmentation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54496" y="1581912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ตอบว่า "pixel ไหนเป็นอะไร?"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mask ครอบคลุมทุก pixel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ใช้เมื่อ: ตรวจสอบขอบชิ้นงาน แยกพื้นหลัง วัดพื้นที่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4496" y="3063240"/>
            <a:ext cx="260604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3072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YOLOv11-seg · SAM · DeepLab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54496" y="3401568"/>
            <a:ext cx="260604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3410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RPi: หนัก ⚠️ ต้องการ accelerator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 — ใช้โมเดลไหน ต้องทำอะไร?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· Predict · Classify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75895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521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15214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1521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(RPi5)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1521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1521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เหมาะกับ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508760"/>
            <a:ext cx="7589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5270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63040" y="15270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31720" y="15270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~5–8 FPS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15270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5270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ด่วน ทรัพยากรน้อย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" y="1911096"/>
            <a:ext cx="758952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1911096"/>
            <a:ext cx="54864" cy="38404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9293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63040" y="192938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 MB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31720" y="19293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~3–5 FPS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0" y="19293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19293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แนะนำ RPi baseline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" y="2313432"/>
            <a:ext cx="7589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331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463040" y="2331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MB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31720" y="23317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 FPS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0" y="2331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331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ต้องการ accuracy สูง + accelerator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82880" y="2715768"/>
            <a:ext cx="758952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7340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yolo11x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463040" y="27340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 MB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31720" y="27340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FPS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0" y="27340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~0.69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27340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Cloud/GPU เท่านั้น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82880" y="3182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วิธีใช้ custom model (3 ขั้น):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82880" y="3547872"/>
            <a:ext cx="28346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" y="3547872"/>
            <a:ext cx="28346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3547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CF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โหลด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92608" y="385876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YOLO('best.pt')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72968" y="3547872"/>
            <a:ext cx="28346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72968" y="3547872"/>
            <a:ext cx="28346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82696" y="3547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CF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Predict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82696" y="385876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model.predict(source='img.jpg', conf=0.25)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63056" y="3547872"/>
            <a:ext cx="28346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63056" y="3547872"/>
            <a:ext cx="28346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3547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CF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วนผล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72784" y="385876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 in results: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box in r.boxes: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cls, conf, xyxy = ...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 เอง — โครงสร้างการเทรน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3–4: Dataset → Label → Train → Evaluate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61872" y="1485900"/>
            <a:ext cx="164592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4752" y="1188720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(Roboflow)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23744" y="1485900"/>
            <a:ext cx="164592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06624" y="1188720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85616" y="1485900"/>
            <a:ext cx="164592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68496" y="1188720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8496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47488" y="1485900"/>
            <a:ext cx="164592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30368" y="1188720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mAP/FPS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1485900"/>
            <a:ext cx="164592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188720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71232" y="1485900"/>
            <a:ext cx="164592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54112" y="1188720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54112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288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Dataset Structure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82880" y="2359152"/>
            <a:ext cx="274320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359152"/>
            <a:ext cx="27432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CF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 Format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2670048"/>
            <a:ext cx="25603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Woodenbox-13/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train/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images/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labels/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valid/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data.yaml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0896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Hyperparameters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108960" y="2359152"/>
            <a:ext cx="274320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0" y="2359152"/>
            <a:ext cx="27432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18688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CF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04_train_yolo.py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18688" y="2670048"/>
            <a:ext cx="25603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YOLO('yolo11s.pt')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model.train(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data='data.yaml',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epochs=50,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batch=16,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imgsz=640,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name='my_run'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3504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ผลจาก Project นี้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35040" y="2359152"/>
            <a:ext cx="1371600" cy="877824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2359152"/>
            <a:ext cx="1371600" cy="7315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24963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6035040" y="29809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mAP50-95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98080" y="2359152"/>
            <a:ext cx="1371600" cy="877824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98080" y="2359152"/>
            <a:ext cx="13716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24963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0.820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7498080" y="29809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mAP50-95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35040" y="3364992"/>
            <a:ext cx="1371600" cy="877824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35040" y="3364992"/>
            <a:ext cx="13716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35021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train23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6035040" y="3986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Run (s)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ที่ไหนดี? Cloud vs Computer vs Raspberry 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แนะนำสเปคและการเลือก Environment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43000"/>
            <a:ext cx="2788920" cy="4572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 Training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4081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· Kaggle · Lambda Labs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ข้อดี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92024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ไม่ต้องซื้อ GPU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17627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ใช้ GPU ฟรี (T4/A100)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43230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ตั้งค่าง่าย notebook พร้อม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7249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ข้อจำกัด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98094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เวลาใช้งานจำกัด (Colab)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23697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ข้อมูล upload ช้า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49300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ไม่ stable สำหรับ train นาน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498848"/>
            <a:ext cx="260604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19" name="Text 17"/>
          <p:cNvSpPr/>
          <p:nvPr/>
        </p:nvSpPr>
        <p:spPr>
          <a:xfrm>
            <a:off x="320040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~10-30 min / 50 epoch (T4)</a:t>
            </a:r>
            <a:b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th-TH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!!</a:t>
            </a:r>
            <a:r>
              <a:rPr lang="th-TH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แล้วแต่ขนาด</a:t>
            </a: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th-TH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อาจจะ</a:t>
            </a: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r>
              <a:rPr lang="th-TH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ละ5-7นาที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114300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1143000"/>
            <a:ext cx="2788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152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Local Computer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64408" y="14081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Windows/Linux + NVIDIA GPU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64408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ข้อดี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0128" y="192024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เร็วสุด ไม่มี limit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217627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ข้อมูลอยู่เครื่อง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243230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ควบคุมได้ทุกอย่าง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64408" y="27249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ข้อจำกัด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298094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ต้องซื้อ GPU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0128" y="323697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ตั้งค่า CUDA ซับซ้อน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10128" y="349300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ค่าไฟและความร้อน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64408" y="4498848"/>
            <a:ext cx="260604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33" name="Text 31"/>
          <p:cNvSpPr/>
          <p:nvPr/>
        </p:nvSpPr>
        <p:spPr>
          <a:xfrm>
            <a:off x="3310128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~5-15 min / 50 epoch (RTX 3060) </a:t>
            </a:r>
            <a:br>
              <a:rPr lang="th-TH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th-TH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!!</a:t>
            </a:r>
            <a:r>
              <a:rPr lang="th-TH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แล้วแต่ขนาด</a:t>
            </a: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th-TH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อาจจะ</a:t>
            </a: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r>
              <a:rPr lang="th-TH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ละ2-3นาที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63056" y="114300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1143000"/>
            <a:ext cx="27889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1152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🍓 Raspberry Pi 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54496" y="14081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เท่านั้น — ไม่แนะนำ Train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54496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ข้อดี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0216" y="192024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ได้ทันที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0216" y="217627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ราคาถูก compact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0216" y="243230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power edge AI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54496" y="27249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ข้อจำกัด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0216" y="298094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ช้ามาก (CPU only)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0216" y="323697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RAM จำกัด 4/8 GB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0216" y="349300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ไม่เหมาะ train จริง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54496" y="4498848"/>
            <a:ext cx="260604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0216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~5-10 FPS inference (yolo11n)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แนะนำสเปค Hardware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 Training · สำหรับ Raspberry Pi Edge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สเปคสำหรับ Train (PC/Laptop)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554480"/>
            <a:ext cx="4297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910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5910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3060 ขึ้นไป (6 GB VRAM+)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993392"/>
            <a:ext cx="429768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0299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i5/i7 หรือ AMD Ryzen 5/7 (8+ cores)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432304"/>
            <a:ext cx="4297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468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4688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ขึ้นไป (32 GB แนะนำ)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871216"/>
            <a:ext cx="429768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077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9077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256 GB+ dataset+model อยู่บน SSD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3310128"/>
            <a:ext cx="4297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3467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3467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 (แนะนำ) หรือ Windows 11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3749040"/>
            <a:ext cx="429768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78561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37856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11.8+ · cuDNN 8+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143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🍓 Raspberry Pi 5 — Deploy Setup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554480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5910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15910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(8 GB RAM แนะนำ)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993392"/>
            <a:ext cx="420624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0299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20299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Camera Module v3 หรือ USB Webcam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432304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468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2468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MicroSD 32 GB Class 10 / A2 หรือ NVMe HAT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871216"/>
            <a:ext cx="420624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9077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60720" y="29077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OS 64-bit (Bookworm)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310128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3467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60720" y="33467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 · pip · venv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749040"/>
            <a:ext cx="420624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78561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60720" y="3785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HAT+ (Hailo-8L 13 TOPS) — optional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2880" y="4617720"/>
            <a:ext cx="8778240" cy="384048"/>
          </a:xfrm>
          <a:prstGeom prst="rect">
            <a:avLst/>
          </a:prstGeom>
          <a:solidFill>
            <a:srgbClr val="0EA5A0">
              <a:alpha val="15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62686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ไม่มี GPU? ใช้ฟรีได้: Google Colab (T4 GPU) · Kaggle (P100) · Paperspace Gradient · GitHub Codespaces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Export &amp; Optimize for Edge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· ONNX · TorchScript · FPS Benchmark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1142999"/>
            <a:ext cx="4407408" cy="1736387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43891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CF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07_export_model.py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481328"/>
            <a:ext cx="42062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Export เป็น OpenVINO (แนะนำสำหรับ RPi)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YOLO('best.pt')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model.export(format='openvino', half=True)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Export เป็น ONNX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model.export(format='onnx')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Script สำเร็จรูป: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07_export_model.py --format openvino --half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" y="2834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FPS เปรียบเทียบ (RPi 5, CPU-only, 640px):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2024" y="3126274"/>
            <a:ext cx="4389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3090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yolo11n.pt (PyTorch)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64408" y="30906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~4–6 FPS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3401568"/>
            <a:ext cx="4389120" cy="292608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3419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yolo11n_openvino (FP32)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64408" y="34198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~6–9 FPS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3730752"/>
            <a:ext cx="4389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yolo11n_openvino (FP16)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~8–12 FPS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4059936"/>
            <a:ext cx="4389120" cy="292608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4078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yolo11s.pt (PyTorch)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4078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~2–4 FPS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" y="4389120"/>
            <a:ext cx="4389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4407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yolo11s_openvino (FP16)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64408" y="4407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~5–8 FPS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1168" y="4718304"/>
            <a:ext cx="4389120" cy="292608"/>
          </a:xfrm>
          <a:prstGeom prst="rect">
            <a:avLst/>
          </a:prstGeom>
          <a:solidFill>
            <a:srgbClr val="E8F5E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47365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AI HAT+ (Hailo-8L)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64408" y="4736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~20–40 FPS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เคล็ดลับ Optimize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536192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536192"/>
            <a:ext cx="54864" cy="50292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5544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imgsz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1783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px แทน 640 → เร็ว ~2x แต่ accuracy ลดลง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103120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103120"/>
            <a:ext cx="54864" cy="50292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1214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Precision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23500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บน OpenVINO → เร็วขึ้นบน hardware รองรับ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670048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670048"/>
            <a:ext cx="54864" cy="50292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6883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model เล็ก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29169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ก่อนเสมอ เพิ่มขนาดเมื่อจำเป็น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236976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236976"/>
            <a:ext cx="54864" cy="50292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2552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frame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92040" y="34838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ทุก 2-3 frame แทน real-time ทุก frame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3803904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3803904"/>
            <a:ext cx="54864" cy="50292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822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camera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92040" y="40507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thread capture กับ inference ออกจากกัน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4370832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4370832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3891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HAT+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92040" y="4617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Hailo-8L 13 TOPS บน RPi 5 → 10-15x เร็วกว่า CPU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ไฟล์ใน Project ที่คุณมี — สรุปทั้งหมด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github.com/BESSTSU/ProjectAI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795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Draft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1795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course.docx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0" y="11795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Module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490472"/>
            <a:ext cx="434340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527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Blueprint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" y="1527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COURSE_BLUEPRINT_TH.md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1527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อ้างอิง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1837944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Slides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opencv_slides.pptx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18745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185416"/>
            <a:ext cx="434340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221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Script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2221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00_check_env.py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22219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ก่อนเริ่ม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2532888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Script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2569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01_opencv_image_basic.py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5694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2880360"/>
            <a:ext cx="434340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916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Script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" y="2916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02_opencv_webcam.py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66160" y="291693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" y="3227832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264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Script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03_download_roboflow.py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66160" y="32644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3575304"/>
            <a:ext cx="434340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611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Script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" y="3611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04_train_yolo.py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66160" y="3611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" y="3922776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959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Script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" y="3959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05_predict_image.py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66160" y="39593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M2/M4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1143000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1795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Script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0" y="11795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06_compare_training_runs.py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92440" y="11795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1490472"/>
            <a:ext cx="434340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1527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Script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69280" y="1527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07_export_model.py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92440" y="1527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1837944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Script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6928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08_rpi_webcam_inference.py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92440" y="18745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2185416"/>
            <a:ext cx="434340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2221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Config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669280" y="2221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easy_config.py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092440" y="22219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09160" y="2532888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Easy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669280" y="2569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10–14_easy_*.py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092440" y="25694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M2–M4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09160" y="2880360"/>
            <a:ext cx="434340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2916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Dataset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669280" y="2916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data.yaml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092440" y="291693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M3–M4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09160" y="3227832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3264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Result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669280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092440" y="32644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09160" y="3575304"/>
            <a:ext cx="434340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0" y="3611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Plan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669280" y="3611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LESSON_PLAN_TH.md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092440" y="3611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อ้างอิง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709160" y="3922776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54880" y="3959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Deps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669280" y="3959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8092440" y="39593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การสอน — ลำดับที่แนะนำ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Lesson Format · Script ที่ใช้ · Activity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8778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07592"/>
            <a:ext cx="594360" cy="530352"/>
          </a:xfrm>
          <a:prstGeom prst="roundRect">
            <a:avLst>
              <a:gd name="adj" fmla="val 13793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307592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1978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Fundamentals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5636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Scripts: 00 · 01 · 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271016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2710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1-2hr</a:t>
            </a:r>
          </a:p>
        </p:txBody>
      </p:sp>
      <p:sp>
        <p:nvSpPr>
          <p:cNvPr id="13" name="Text 11"/>
          <p:cNvSpPr/>
          <p:nvPr/>
        </p:nvSpPr>
        <p:spPr>
          <a:xfrm>
            <a:off x="5349240" y="121615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เปลี่ยน input รูป · วาด box · เปิด webcam สด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" y="2103120"/>
            <a:ext cx="8778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67712"/>
            <a:ext cx="594360" cy="530352"/>
          </a:xfrm>
          <a:prstGeom prst="roundRect">
            <a:avLst>
              <a:gd name="adj" fmla="val 13793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267712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15798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ด้วย Trained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523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Scripts: 10 · easy_config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2231136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22311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217627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เปลี่ยน conf 0.1/0.25/0.5 · เปลี่ยน source · ดูผล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3063240"/>
            <a:ext cx="8778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227832"/>
            <a:ext cx="594360" cy="530352"/>
          </a:xfrm>
          <a:prstGeom prst="roundRect">
            <a:avLst>
              <a:gd name="adj" fmla="val 1379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27832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1181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Custom Model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3483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Scripts: 11 · 03 · easy_config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3191256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28" name="Text 26"/>
          <p:cNvSpPr/>
          <p:nvPr/>
        </p:nvSpPr>
        <p:spPr>
          <a:xfrm>
            <a:off x="4389120" y="31912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4-6hr</a:t>
            </a:r>
          </a:p>
        </p:txBody>
      </p:sp>
      <p:sp>
        <p:nvSpPr>
          <p:cNvPr id="29" name="Text 27"/>
          <p:cNvSpPr/>
          <p:nvPr/>
        </p:nvSpPr>
        <p:spPr>
          <a:xfrm>
            <a:off x="5349240" y="313639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เปลี่ยน BASE_MODEL · EPOCHS · BATCH · run name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82880" y="4023360"/>
            <a:ext cx="8778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4187952"/>
            <a:ext cx="594360" cy="530352"/>
          </a:xfrm>
          <a:prstGeom prst="roundRect">
            <a:avLst>
              <a:gd name="adj" fmla="val 1379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187952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40782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Export &amp; Deploy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0120" y="4443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Scripts: 12 · 13 · 14 · 08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89120" y="4151376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36" name="Text 34"/>
          <p:cNvSpPr/>
          <p:nvPr/>
        </p:nvSpPr>
        <p:spPr>
          <a:xfrm>
            <a:off x="4389120" y="41513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49240" y="409651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webcam test จริง · compare run · export openvino · RPi demo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แต่ละบท: อธิบาย 10-15 นาที → Demo 10 นาที → ทดลอง 15-20 นาที → สรุป 5-10 นาที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ขั้นตอนถัดไป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สิ่งที่ต้องเตรียมก่อนสอนจริง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05156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แปลง AI course.docx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 slide outline รายบทตาม LESSON_PLAN_TH.md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54864" cy="105156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ทดสอบ scripts ทั้งหมด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82880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 00→14 ครบ ตรวจว่า path และ config ถูกต้อง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40233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42032"/>
            <a:ext cx="54864" cy="105156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เตรียม dataset backup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99923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Woodenbox-13 พร้อม — เพิ่ม dataset ของผู้เรียนได้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542032"/>
            <a:ext cx="40233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542032"/>
            <a:ext cx="54864" cy="105156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Benchmark FPS บน RPi 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 FPS จริงของ yolo11n/s ทั้ง PyTorch และ OpenVINO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40233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12464"/>
            <a:ext cx="54864" cy="105156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039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เตรียม environment RPi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16966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 ultralytics + OpenCV บน RPi OS 64-bit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712464"/>
            <a:ext cx="40233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712464"/>
            <a:ext cx="54864" cy="105156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8039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สร้าง Capstone template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416966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โจทย์สำหรับผู้เรียนออกแบบ custom project ของตัวเอง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github.com/BESSTSU/ProjectAI  ·  Python 3.11+  ·  ultralytics  ·  OpenCV  ·  Roboflow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1886</Words>
  <Application>Microsoft Office PowerPoint</Application>
  <PresentationFormat>On-screen Show (16:9)</PresentationFormat>
  <Paragraphs>381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AI with Python on Raspberry Pi</dc:title>
  <dc:subject>PptxGenJS Presentation</dc:subject>
  <dc:creator>PptxGenJS</dc:creator>
  <cp:lastModifiedBy>peranat bbc</cp:lastModifiedBy>
  <cp:revision>2</cp:revision>
  <dcterms:created xsi:type="dcterms:W3CDTF">2026-04-23T07:43:09Z</dcterms:created>
  <dcterms:modified xsi:type="dcterms:W3CDTF">2026-04-23T11:14:48Z</dcterms:modified>
</cp:coreProperties>
</file>