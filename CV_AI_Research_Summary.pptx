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01E"/>
          </a:solidFill>
          <a:ln w="12700">
            <a:solidFill>
              <a:srgbClr val="0610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00C2D1">
              <a:alpha val="10000"/>
            </a:srgbClr>
          </a:solidFill>
          <a:ln w="12700">
            <a:solidFill>
              <a:srgbClr val="00C2D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00C2D1">
              <a:alpha val="8000"/>
            </a:srgbClr>
          </a:solidFill>
          <a:ln w="12700">
            <a:solidFill>
              <a:srgbClr val="00C2D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47472"/>
            <a:ext cx="2834640" cy="347472"/>
          </a:xfrm>
          <a:prstGeom prst="roundRect">
            <a:avLst>
              <a:gd name="adj" fmla="val 23684"/>
            </a:avLst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Research &amp; Course Development Report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สรุปผลการวิจัยและพัฒนาคอร์ส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AI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" y="17007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Python on Raspberry Pi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 ·  Object Detection  ·  Training Benchmark  ·  Edge Deployment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201168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697480"/>
            <a:ext cx="2011680" cy="54864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797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2697480"/>
            <a:ext cx="201168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2697480"/>
            <a:ext cx="20116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7797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51760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697480"/>
            <a:ext cx="201168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697480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7797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00600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mAP50-95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2697480"/>
            <a:ext cx="201168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2697480"/>
            <a:ext cx="2011680" cy="54864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27797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4060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GPU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730752"/>
            <a:ext cx="8412480" cy="475488"/>
          </a:xfrm>
          <a:prstGeom prst="rect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7307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Cabbage  ·  FaceWoodenbox  ·  woodenbox   |   GPU: NVIDIA RTX 4060 Laptop (8GB)   |   github.com/BESSTSU/ProjectAI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ที่มาและกระบวนการวิจัย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 &amp; Methodology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54864" cy="384048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ทำไมถึงทำวิจัยนี้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517904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1536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ในตลาด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คอร์ส CV AI ขาดเส้นทาง Deploy จริงบน Edge Device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2139696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157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ความต้องการ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404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Factory / IoT ต้องการทักษะ edge AI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2761488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27797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Python-first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เขียนได้ทุกขั้นตอน ตั้งแต่ OpenCV → Deploy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338328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3401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ราคาถูก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648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5 + YOLO แทน AI Camera ราคาหลักแสน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4005072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ภาษาไทย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270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ขาดเนื้อหา end-to-end ที่เป็นภาษาไทย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987552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987552"/>
            <a:ext cx="54864" cy="3840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ขั้นตอนการวิจัย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73168" y="1499616"/>
            <a:ext cx="365760" cy="320040"/>
          </a:xfrm>
          <a:prstGeom prst="roundRect">
            <a:avLst>
              <a:gd name="adj" fmla="val 2571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Tech Stack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 YOLO v8/v9/v11 + OpenCV + Roboflow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2139696"/>
            <a:ext cx="365760" cy="320040"/>
          </a:xfrm>
          <a:prstGeom prst="roundRect">
            <a:avLst>
              <a:gd name="adj" fmla="val 2571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1396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2157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Dataset จริง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Cabbage, FaceWoodenbox, woodenbox — 3 classes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73168" y="2779776"/>
            <a:ext cx="365760" cy="320040"/>
          </a:xfrm>
          <a:prstGeom prst="roundRect">
            <a:avLst>
              <a:gd name="adj" fmla="val 2571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7797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27980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หลาย Model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yolo11m·n·s·x / batch 4·8·16 บน RTX 4060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3419856"/>
            <a:ext cx="365760" cy="320040"/>
          </a:xfrm>
          <a:prstGeom prst="roundRect">
            <a:avLst>
              <a:gd name="adj" fmla="val 2571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34198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3438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ผล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 mAP50, mAP50-95, inference speed จริง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4059936"/>
            <a:ext cx="365760" cy="320040"/>
          </a:xfrm>
          <a:prstGeom prst="roundRect">
            <a:avLst>
              <a:gd name="adj" fmla="val 2571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4059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12080" y="4078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ออกแบบคอร์ส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0" y="4315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+ 15 Scripts จาก insight ที่ได้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ที่ใช้วิจัย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 — 3 Classes  |  Labeled with Roboflow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889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78892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Cabbage 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2606040" cy="438912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572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92808" y="15727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057400"/>
            <a:ext cx="2606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0756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92808" y="20756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2560320"/>
            <a:ext cx="2606040" cy="438912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5786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92808" y="25786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2606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0815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 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92808" y="30815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" y="36210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" y="3895344"/>
            <a:ext cx="2487168" cy="219456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" y="3895344"/>
            <a:ext cx="2325502" cy="21945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413308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3891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ตรวจได้ง่ายที่สุด — texture ชัด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64408" y="1005840"/>
            <a:ext cx="27889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1005840"/>
            <a:ext cx="2788920" cy="45720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1005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woodenbox 📦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355848" y="1554480"/>
            <a:ext cx="2606040" cy="438912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1572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37176" y="15727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55848" y="2057400"/>
            <a:ext cx="2606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0756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37176" y="20756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55848" y="2560320"/>
            <a:ext cx="2606040" cy="438912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25786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37176" y="25786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355848" y="3063240"/>
            <a:ext cx="2606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30815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 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37176" y="30815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429000" y="36210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mAP50-95: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3895344"/>
            <a:ext cx="2487168" cy="219456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29000" y="3895344"/>
            <a:ext cx="2298143" cy="219456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413308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55848" y="43891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ตรวจได้ดี — สี/รูปร่างชัดเจน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08776" y="1005840"/>
            <a:ext cx="27889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08776" y="1005840"/>
            <a:ext cx="278892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08776" y="1005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FaceWoodenbox 🎭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300216" y="1554480"/>
            <a:ext cx="2606040" cy="438912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3368" y="1572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81544" y="15727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300216" y="2057400"/>
            <a:ext cx="2606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3368" y="20756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781544" y="20756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300216" y="2560320"/>
            <a:ext cx="2606040" cy="438912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25786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781544" y="25786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0.815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300216" y="3063240"/>
            <a:ext cx="2606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73368" y="30815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 ★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781544" y="30815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373368" y="36210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mAP50-95: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73368" y="3895344"/>
            <a:ext cx="2487168" cy="219456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73368" y="3895344"/>
            <a:ext cx="1571890" cy="2194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73368" y="413308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300216" y="43891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ยากที่สุด — ต้องการ data เพิ่ม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20040" y="4681728"/>
            <a:ext cx="8503920" cy="32918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468172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รวมทั้งหมด: 338 Images  ·  752 Instances  ·  Split: Train / Valid / Test  ·  Label: Roboflow  ·  Format: YOLO (.txt)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01E"/>
          </a:solidFill>
          <a:ln w="12700">
            <a:solidFill>
              <a:srgbClr val="0610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00C2D1">
              <a:alpha val="10000"/>
            </a:srgbClr>
          </a:solidFill>
          <a:ln w="12700">
            <a:solidFill>
              <a:srgbClr val="00C2D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00C2D1">
              <a:alpha val="8000"/>
            </a:srgbClr>
          </a:solidFill>
          <a:ln w="12700">
            <a:solidFill>
              <a:srgbClr val="00C2D1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ผลเปรียบเทียบโมเดล — ข้อมูลจริง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NVIDIA RTX 4060 Laptop (8GB)  ·  Dataset: 338 images  ·  3 Classes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960120"/>
            <a:ext cx="2029968" cy="1170432"/>
          </a:xfrm>
          <a:prstGeom prst="rect">
            <a:avLst/>
          </a:prstGeom>
          <a:solidFill>
            <a:srgbClr val="0D1F35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960120"/>
            <a:ext cx="2029968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5156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7472" y="1527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23744" y="960120"/>
            <a:ext cx="2029968" cy="1170432"/>
          </a:xfrm>
          <a:prstGeom prst="rect">
            <a:avLst/>
          </a:prstGeom>
          <a:solidFill>
            <a:srgbClr val="0D1F35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23744" y="960120"/>
            <a:ext cx="2029968" cy="64008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05156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523744" y="1527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 (all)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0016" y="960120"/>
            <a:ext cx="2029968" cy="1170432"/>
          </a:xfrm>
          <a:prstGeom prst="rect">
            <a:avLst/>
          </a:prstGeom>
          <a:solidFill>
            <a:srgbClr val="0D1F35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0016" y="960120"/>
            <a:ext cx="2029968" cy="64008"/>
          </a:xfrm>
          <a:prstGeom prst="rect">
            <a:avLst/>
          </a:prstGeom>
          <a:solidFill>
            <a:srgbClr val="80E8F0"/>
          </a:solidFill>
          <a:ln w="12700">
            <a:solidFill>
              <a:srgbClr val="80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105156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00016" y="1527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(all)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76288" y="960120"/>
            <a:ext cx="2029968" cy="1170432"/>
          </a:xfrm>
          <a:prstGeom prst="rect">
            <a:avLst/>
          </a:prstGeom>
          <a:solidFill>
            <a:srgbClr val="0D1F35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76288" y="960120"/>
            <a:ext cx="202996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105156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~3.7s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76288" y="1527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Speed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2331720"/>
            <a:ext cx="8449056" cy="347472"/>
          </a:xfrm>
          <a:prstGeom prst="rect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3408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27632" y="23408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67712" y="23408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82112" y="23408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59352" y="23408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73752" y="23408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96712" y="23408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19672" y="23408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25512" y="23408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Inf/img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2715768"/>
            <a:ext cx="8449056" cy="43891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2715768"/>
            <a:ext cx="45720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27523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yolo11s ✅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627632" y="27523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67712" y="27523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82112" y="27523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959352" y="27523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73752" y="27523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96712" y="27523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19672" y="2752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25512" y="27523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~11ms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47472" y="3191256"/>
            <a:ext cx="8449056" cy="438912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3227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yolo11m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627632" y="3227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267712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20.0M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182112" y="32278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67.7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959352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73752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0.868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696712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519672" y="3227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525512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18.0ms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47472" y="3666744"/>
            <a:ext cx="8449056" cy="43891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3703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yolo11m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627632" y="3703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267712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20.0M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182112" y="3703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67.7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959352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873752" y="3703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696712" y="3703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0.920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519672" y="3703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525512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17.7ms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47472" y="4142232"/>
            <a:ext cx="8449056" cy="438912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" y="4178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yolo11x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627632" y="41788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2267712" y="4178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56.8M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3182112" y="417880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194.4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959352" y="4178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873752" y="4178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0.862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696712" y="4178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0.910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519672" y="41788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7525512" y="4178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38.5ms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347472" y="4663440"/>
            <a:ext cx="8449056" cy="320040"/>
          </a:xfrm>
          <a:prstGeom prst="rect">
            <a:avLst/>
          </a:prstGeom>
          <a:solidFill>
            <a:srgbClr val="051020"/>
          </a:solidFill>
          <a:ln w="12700">
            <a:solidFill>
              <a:srgbClr val="05102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Finding: yolo11x (ใหญ่สุด) ให้ mAP50-95 ต่ำสุด = 0.796 — ยืนยันว่าโมเดลใหญ่ไม่ได้ดีกว่าเสมอ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ผลแยกรายคลาส — ค้นพบจุดอ่อน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mAP50-95  ·  ข้อมูลจาก Best Model (yolo11s, batch=16)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889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78892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Cabbage 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508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b16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5087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178308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1783080"/>
            <a:ext cx="2410998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b8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2860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256032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2560320"/>
            <a:ext cx="239037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b4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0632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333756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3337560"/>
            <a:ext cx="2395527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yolo11x b4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38404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" y="411480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4114800"/>
            <a:ext cx="2341376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590288"/>
            <a:ext cx="2615184" cy="182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459028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0.935  Worst: 0.908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64408" y="1005840"/>
            <a:ext cx="27889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64408" y="1005840"/>
            <a:ext cx="2788920" cy="384048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10058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woodenbox 📦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74136" y="1508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b16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76088" y="15087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74136" y="178308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4136" y="1783080"/>
            <a:ext cx="2382634" cy="25603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b8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76088" y="22860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74136" y="256032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74136" y="2560320"/>
            <a:ext cx="2369741" cy="25603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74136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b4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76088" y="30632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74136" y="333756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74136" y="3337560"/>
            <a:ext cx="2359426" cy="25603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74136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yolo11x b4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76088" y="38404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74136" y="411480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74136" y="4114800"/>
            <a:ext cx="2325904" cy="25603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55848" y="4590288"/>
            <a:ext cx="2615184" cy="18288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74136" y="459028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0.924  Worst: 0.902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08776" y="1005840"/>
            <a:ext cx="27889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08776" y="1005840"/>
            <a:ext cx="2788920" cy="38404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08776" y="10058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FaceWoodenbox 🎭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18504" y="1508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b16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220456" y="15087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18504" y="178308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18504" y="1783080"/>
            <a:ext cx="1629680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18504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b8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20456" y="22860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318504" y="256032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18504" y="2560320"/>
            <a:ext cx="1580687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18504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b4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20456" y="30632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18504" y="333756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18504" y="3337560"/>
            <a:ext cx="1547165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18504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yolo11x b4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38404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18504" y="4114800"/>
            <a:ext cx="2578608" cy="256032"/>
          </a:xfrm>
          <a:prstGeom prst="rect">
            <a:avLst/>
          </a:prstGeom>
          <a:solidFill>
            <a:srgbClr val="DDE8EF"/>
          </a:solidFill>
          <a:ln w="12700">
            <a:solidFill>
              <a:srgbClr val="DDE8E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18504" y="4114800"/>
            <a:ext cx="1487857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0216" y="4590288"/>
            <a:ext cx="2615184" cy="1828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18504" y="459028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0.632  Worst: 0.577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0040" y="4818888"/>
            <a:ext cx="8503920" cy="201168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0040" y="4818888"/>
            <a:ext cx="8503920" cy="201168"/>
          </a:xfrm>
          <a:prstGeom prst="rect">
            <a:avLst/>
          </a:prstGeom>
          <a:solidFill>
            <a:srgbClr val="FDECE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FaceWoodenbox ทุก model ต่ำกว่า 0.65 — ปัญหาที่ dataset level: ต้องเพิ่มรูป + ปรับ labeling strategy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01E"/>
          </a:solidFill>
          <a:ln w="12700">
            <a:solidFill>
              <a:srgbClr val="0610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00C2D1">
              <a:alpha val="10000"/>
            </a:srgbClr>
          </a:solidFill>
          <a:ln w="12700">
            <a:solidFill>
              <a:srgbClr val="00C2D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00C2D1">
              <a:alpha val="8000"/>
            </a:srgbClr>
          </a:solidFill>
          <a:ln w="12700">
            <a:solidFill>
              <a:srgbClr val="00C2D1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 — Real Measurement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วัดบน GPU: RTX 4060  ·  CPU: AMD Ryzen 9 7940HX  ·  ข้อมูลจากการ evaluate จริง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Inference Time per Image (GPU)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yolo11s  b16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664208"/>
            <a:ext cx="5029200" cy="292608"/>
          </a:xfrm>
          <a:prstGeom prst="rect">
            <a:avLst/>
          </a:prstGeom>
          <a:solidFill>
            <a:srgbClr val="1A2D48"/>
          </a:solidFill>
          <a:ln w="12700">
            <a:solidFill>
              <a:srgbClr val="1A2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664208"/>
            <a:ext cx="138303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~11ms  ← ประมาณจาก eval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68112" y="16642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yolo11m  b4 (train27)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414016"/>
            <a:ext cx="5029200" cy="292608"/>
          </a:xfrm>
          <a:prstGeom prst="rect">
            <a:avLst/>
          </a:prstGeom>
          <a:solidFill>
            <a:srgbClr val="1A2D48"/>
          </a:solidFill>
          <a:ln w="12700">
            <a:solidFill>
              <a:srgbClr val="1A2D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414016"/>
            <a:ext cx="2225421" cy="292608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414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17.7ms inference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68112" y="24140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yolo11m  b8 (train24)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163824"/>
            <a:ext cx="5029200" cy="292608"/>
          </a:xfrm>
          <a:prstGeom prst="rect">
            <a:avLst/>
          </a:prstGeom>
          <a:solidFill>
            <a:srgbClr val="1A2D48"/>
          </a:solidFill>
          <a:ln w="12700">
            <a:solidFill>
              <a:srgbClr val="1A2D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163824"/>
            <a:ext cx="2263140" cy="292608"/>
          </a:xfrm>
          <a:prstGeom prst="rect">
            <a:avLst/>
          </a:prstGeom>
          <a:solidFill>
            <a:srgbClr val="009AAF"/>
          </a:solidFill>
          <a:ln w="12700">
            <a:solidFill>
              <a:srgbClr val="009A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163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18.0ms inference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68112" y="31638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621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yolo11x  b4 (train29)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3913632"/>
            <a:ext cx="5029200" cy="292608"/>
          </a:xfrm>
          <a:prstGeom prst="rect">
            <a:avLst/>
          </a:prstGeom>
          <a:solidFill>
            <a:srgbClr val="1A2D48"/>
          </a:solidFill>
          <a:ln w="12700">
            <a:solidFill>
              <a:srgbClr val="1A2D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913632"/>
            <a:ext cx="4840605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913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38.5ms inference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68112" y="39136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Hardware ที่ใช้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52160" y="1371600"/>
            <a:ext cx="2944368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1371600"/>
            <a:ext cx="45720" cy="8046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408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GPU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1682496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4060 Laptop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8188 MiB VRAM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0" y="2267712"/>
            <a:ext cx="2944368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52160" y="2267712"/>
            <a:ext cx="45720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CPU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2578608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Ryzen 9 7940HX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Radeon Graphics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52160" y="3163824"/>
            <a:ext cx="2944368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2160" y="3163824"/>
            <a:ext cx="45720" cy="80467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Stack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89320" y="3474720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2.6.0 + CUDA 12.4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52160" y="4059936"/>
            <a:ext cx="2944368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4059936"/>
            <a:ext cx="45720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Lib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89320" y="4370832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8.4.38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7472" y="4663440"/>
            <a:ext cx="8449056" cy="320040"/>
          </a:xfrm>
          <a:prstGeom prst="rect">
            <a:avLst/>
          </a:prstGeom>
          <a:solidFill>
            <a:srgbClr val="051020"/>
          </a:solidFill>
          <a:ln w="12700">
            <a:solidFill>
              <a:srgbClr val="051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yolo11x ช้ากว่า yolo11s ถึง ~3.5x  ·  บน RPi 5 CPU: yolo11s แนะนำ OpenVINO FP16 เพื่อให้ได้ 5–8 FPS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ข้อค้นพบหลักจากการวิจัย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Findings — จากผลการทดสอบจริง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54864" cy="1207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060704"/>
            <a:ext cx="384048" cy="320040"/>
          </a:xfrm>
          <a:prstGeom prst="roundRect">
            <a:avLst>
              <a:gd name="adj" fmla="val 25714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06070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078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โมเดลเล็กชนะโมเดลใหญ่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" y="14447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(9.4M params) ชนะ yolo11x (56.8M params)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mAP50-95: 0.830 vs 0.796 — ห่างกันถึง 4.3%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30168" y="1060704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106070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= Best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987552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87552"/>
            <a:ext cx="54864" cy="1207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1060704"/>
            <a:ext cx="384048" cy="320040"/>
          </a:xfrm>
          <a:prstGeom prst="roundRect">
            <a:avLst>
              <a:gd name="adj" fmla="val 2571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106070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1078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มีผลต่อ accuracy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82896" y="14447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batch=8 (mAP=0.820) ดีกว่า batch=4 (0.815)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ต้องหาจุดสมดุลระหว่าง batch กับ VRAM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5008" y="1060704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106070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batch=8 ดีกว่า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313432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313432"/>
            <a:ext cx="54864" cy="1207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" y="2386584"/>
            <a:ext cx="384048" cy="320040"/>
          </a:xfrm>
          <a:prstGeom prst="roundRect">
            <a:avLst>
              <a:gd name="adj" fmla="val 25714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238658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24048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FaceWoodenbox — จุดอ่อน Dataset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" y="2770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model ได้ mAP50-95 &lt; 0.65 สำหรับ class นี้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ต้องเพิ่ม data diversity + ปรับ augmentation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30168" y="2386584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23865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Issue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313432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313432"/>
            <a:ext cx="54864" cy="1207008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82896" y="2386584"/>
            <a:ext cx="384048" cy="320040"/>
          </a:xfrm>
          <a:prstGeom prst="roundRect">
            <a:avLst>
              <a:gd name="adj" fmla="val 25714"/>
            </a:avLst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8658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24048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 vs Accuracy Tradeoff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82896" y="2770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yolo11x ช้า 3.5x กว่า yolo11s (38.5ms vs ~11ms)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RPi 5: yolo11s + OpenVINO FP16 เหมาะสุด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65008" y="2386584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65008" y="23865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ใช้ s+OpenVINO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639312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639312"/>
            <a:ext cx="54864" cy="1207008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" y="3712464"/>
            <a:ext cx="384048" cy="320040"/>
          </a:xfrm>
          <a:prstGeom prst="roundRect">
            <a:avLst>
              <a:gd name="adj" fmla="val 25714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371246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37307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Cabbage &amp; Woodenbox ตรวจได้ดีมาก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48056" y="40965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model ได้ mAP50 &gt; 0.98 สำหรับ 2 class นี้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ยืนยันว่า YOLO11 เหมาะกับงาน object detection อุตสาหกรรม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30168" y="3712464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30168" y="371246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&gt; 0.98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639312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639312"/>
            <a:ext cx="54864" cy="1207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82896" y="3712464"/>
            <a:ext cx="384048" cy="320040"/>
          </a:xfrm>
          <a:prstGeom prst="roundRect">
            <a:avLst>
              <a:gd name="adj" fmla="val 25714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82896" y="371246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49240" y="37307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4060 เพียงพอสำหรับ Train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82896" y="40965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8GB VRAM รัน yolo11m ได้สบาย (ใช้ ~5GB)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yolo11x ต้องการมากกว่า — ควรใช้ Cloud สำหรับ x model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065008" y="3712464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65008" y="371246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= RTX 4060+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01E"/>
          </a:solidFill>
          <a:ln w="12700">
            <a:solidFill>
              <a:srgbClr val="0610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00C2D1">
              <a:alpha val="10000"/>
            </a:srgbClr>
          </a:solidFill>
          <a:ln w="12700">
            <a:solidFill>
              <a:srgbClr val="00C2D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00C2D1">
              <a:alpha val="8000"/>
            </a:srgbClr>
          </a:solidFill>
          <a:ln w="12700">
            <a:solidFill>
              <a:srgbClr val="00C2D1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โครงสร้างคอร์ส — ออกแบบจาก Research Insight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 ·  4 Lesson Format  ·  15 Scripts  ·  สอนได้จริงทันที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4315968" cy="89611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87552"/>
            <a:ext cx="54864" cy="89611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17043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6696" y="106070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Fundamentals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6696" y="14447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พื้นฐานก่อน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93008" y="1152144"/>
            <a:ext cx="1051560" cy="256032"/>
          </a:xfrm>
          <a:prstGeom prst="roundRect">
            <a:avLst>
              <a:gd name="adj" fmla="val 32143"/>
            </a:avLst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1521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01, 02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4315968" cy="89611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993392"/>
            <a:ext cx="54864" cy="89611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217627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6696" y="206654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AI Introduction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6696" y="24505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เข้าใจ task types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93008" y="2157984"/>
            <a:ext cx="1051560" cy="256032"/>
          </a:xfrm>
          <a:prstGeom prst="roundRect">
            <a:avLst>
              <a:gd name="adj" fmla="val 32143"/>
            </a:avLst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1579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05, 10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999232"/>
            <a:ext cx="4315968" cy="89611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999232"/>
            <a:ext cx="54864" cy="8961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318211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6696" y="307238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Labeling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" y="34564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Dataset quality สำคัญมาก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93008" y="3163824"/>
            <a:ext cx="1051560" cy="256032"/>
          </a:xfrm>
          <a:prstGeom prst="roundRect">
            <a:avLst>
              <a:gd name="adj" fmla="val 32143"/>
            </a:avLst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1638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03, 11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005072"/>
            <a:ext cx="4315968" cy="89611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005072"/>
            <a:ext cx="54864" cy="8961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" y="418795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96696" y="407822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 Training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6696" y="44622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 หลาย model เปรียบเทียบ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93008" y="4169664"/>
            <a:ext cx="1051560" cy="256032"/>
          </a:xfrm>
          <a:prstGeom prst="roundRect">
            <a:avLst>
              <a:gd name="adj" fmla="val 32143"/>
            </a:avLst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93008" y="41696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04, 11-13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37760" y="987552"/>
            <a:ext cx="4315968" cy="89611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987552"/>
            <a:ext cx="54864" cy="8961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47488" y="117043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47488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14416" y="106070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14416" y="14447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ขนาดใหญ่ ≠ ดีกว่า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10728" y="1152144"/>
            <a:ext cx="1051560" cy="256032"/>
          </a:xfrm>
          <a:prstGeom prst="roundRect">
            <a:avLst>
              <a:gd name="adj" fmla="val 32143"/>
            </a:avLst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10728" y="11521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07, 14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937760" y="1993392"/>
            <a:ext cx="4315968" cy="89611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37760" y="1993392"/>
            <a:ext cx="54864" cy="8961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47488" y="217627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4748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14416" y="206654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RPi 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614416" y="24505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OpenVINO FP16 แนะนำ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110728" y="2157984"/>
            <a:ext cx="1051560" cy="256032"/>
          </a:xfrm>
          <a:prstGeom prst="roundRect">
            <a:avLst>
              <a:gd name="adj" fmla="val 32143"/>
            </a:avLst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10728" y="21579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08, 12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937760" y="2999232"/>
            <a:ext cx="4315968" cy="896112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2999232"/>
            <a:ext cx="54864" cy="8961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47488" y="318211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47488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614416" y="307238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614416" y="34564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custom dataset ของตัวเอง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110728" y="3163824"/>
            <a:ext cx="1051560" cy="256032"/>
          </a:xfrm>
          <a:prstGeom prst="roundRect">
            <a:avLst>
              <a:gd name="adj" fmla="val 32143"/>
            </a:avLst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10728" y="31638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0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scripts: all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937760" y="4617720"/>
            <a:ext cx="3858768" cy="347472"/>
          </a:xfrm>
          <a:prstGeom prst="rect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0" y="46268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15 Scripts  ·  🗃 Real Dataset  ·  📊 5 Training Runs  ·  ⏱ 5–6 ชม.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ข้อเสนอแนะและแนวทางพัฒนา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— จากผลการวิจัย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54864" cy="382219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Selection Guide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536192"/>
            <a:ext cx="4041648" cy="658368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536192"/>
            <a:ext cx="45720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5 / Edge (แนะนำ)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yolo11s + OpenVINO FP16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286000"/>
            <a:ext cx="40416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286000"/>
            <a:ext cx="45720" cy="658368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22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Priority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yolo11m batch=8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3035808"/>
            <a:ext cx="4041648" cy="658368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035808"/>
            <a:ext cx="4572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072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Prototype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" y="3328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yolo11n (เร็วมาก)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3785616"/>
            <a:ext cx="40416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785616"/>
            <a:ext cx="45720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Cloud/GPU เท่านั้น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yolo11x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987552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987552"/>
            <a:ext cx="54864" cy="38221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 Improvement Plan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36592" y="1508760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20640" y="1536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FaceWoodenbox — เร่งด่วน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179222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เพิ่มรูป 200+ ใน lighting ต่าง 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 label ให้ consistent กว่าเดิม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6592" y="2286000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120640" y="23134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256946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rotation, blur, brightness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ช่วย FaceWoodenbox ได้มาก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36592" y="3063240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120640" y="30906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334670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ปัจจุบัน woodenbox มากสุด (303)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ควร balance ให้ใกล้เคียงกัน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36592" y="3840480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120640" y="38679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Protocol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412394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test set แยกจาก valid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วัดผลบน unseen data จริง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01E"/>
          </a:solidFill>
          <a:ln w="12700">
            <a:solidFill>
              <a:srgbClr val="0610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00C2D1">
              <a:alpha val="10000"/>
            </a:srgbClr>
          </a:solidFill>
          <a:ln w="12700">
            <a:solidFill>
              <a:srgbClr val="00C2D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00C2D1">
              <a:alpha val="8000"/>
            </a:srgbClr>
          </a:solidFill>
          <a:ln w="12700">
            <a:solidFill>
              <a:srgbClr val="00C2D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สรุปและขั้นตอนถัดไป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6675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1993392" cy="1097280"/>
          </a:xfrm>
          <a:prstGeom prst="rect">
            <a:avLst/>
          </a:prstGeom>
          <a:solidFill>
            <a:srgbClr val="0D1F35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005840"/>
            <a:ext cx="19933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09728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11480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mAP50-95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8105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b16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87752" y="1005840"/>
            <a:ext cx="1993392" cy="1097280"/>
          </a:xfrm>
          <a:prstGeom prst="rect">
            <a:avLst/>
          </a:prstGeom>
          <a:solidFill>
            <a:srgbClr val="0D1F35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87752" y="1005840"/>
            <a:ext cx="1993392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109728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587752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Class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87752" y="18105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FaceWoodenbox ⚠️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64024" y="1005840"/>
            <a:ext cx="1993392" cy="1097280"/>
          </a:xfrm>
          <a:prstGeom prst="rect">
            <a:avLst/>
          </a:prstGeom>
          <a:solidFill>
            <a:srgbClr val="0D1F35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64024" y="1005840"/>
            <a:ext cx="199339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09728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64024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Diff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64024" y="18105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vs x model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0296" y="1005840"/>
            <a:ext cx="1993392" cy="1097280"/>
          </a:xfrm>
          <a:prstGeom prst="rect">
            <a:avLst/>
          </a:prstGeom>
          <a:solidFill>
            <a:srgbClr val="0D1F35"/>
          </a:solidFill>
          <a:ln w="12700">
            <a:solidFill>
              <a:srgbClr val="C8DD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0296" y="1005840"/>
            <a:ext cx="1993392" cy="64008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0296" y="109728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940296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0296" y="18105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Teach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2331720"/>
            <a:ext cx="4160520" cy="1024128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" y="258775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3272" y="2441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 FaceWoodenbox dataset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" y="2788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เพิ่มรูป + ปรับ label — ปัญหาหลักที่ต้องแก้ก่อน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331720"/>
            <a:ext cx="4160520" cy="1024128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56048" y="258775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68112" y="2441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บน RPi 5 จริง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68112" y="2788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 FPS ของ yolo11s PyTorch vs OpenVINO FP16 ตัวเลขจริง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3502152"/>
            <a:ext cx="4160520" cy="1024128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" y="3758184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33272" y="3611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สอน 1 รุ่น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33272" y="39593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 4-Lesson format กับผู้เรียนจริง เก็บ feedback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502152"/>
            <a:ext cx="4160520" cy="1024128"/>
          </a:xfrm>
          <a:prstGeom prst="rect">
            <a:avLst/>
          </a:prstGeom>
          <a:solidFill>
            <a:srgbClr val="0D1F35"/>
          </a:solidFill>
          <a:ln w="12700">
            <a:solidFill>
              <a:srgbClr val="1528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56048" y="3758184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468112" y="3611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คอร์สสมบูรณ์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68112" y="39593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github.com/BESSTSU/ProjectAI — scripts + slides + docs พร้อม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github.com/BESSTSU/ProjectAI  ·  ultralytics 8.4.38  ·  Python 3.12  ·  RTX 4060 Laptop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AI Research Summary</dc:title>
  <dc:subject>PptxGenJS Presentation</dc:subject>
  <dc:creator>PptxGenJS</dc:creator>
  <cp:lastModifiedBy>PptxGenJS</cp:lastModifiedBy>
  <cp:revision>1</cp:revision>
  <dcterms:created xsi:type="dcterms:W3CDTF">2026-04-27T06:16:18Z</dcterms:created>
  <dcterms:modified xsi:type="dcterms:W3CDTF">2026-04-27T06:16:18Z</dcterms:modified>
</cp:coreProperties>
</file>